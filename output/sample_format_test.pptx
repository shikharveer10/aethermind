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</a:rPr>
              <a:t>Predictive Maintenance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FFFFFF"/>
                </a:solidFill>
              </a:rPr>
              <a:t>PHASE 1: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/>
              <a:t>Objective</a:t>
            </a:r>
          </a:p>
          <a:p>
            <a:pPr/>
            <a:r>
              <a:rPr sz="1600"/>
              <a:t>Deliverables</a:t>
            </a:r>
          </a:p>
          <a:p>
            <a:pPr lvl="1"/>
            <a:r>
              <a:rPr sz="1600"/>
              <a:t>Sensor data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Phase Flow</a:t>
            </a:r>
          </a:p>
        </p:txBody>
      </p:sp>
      <p:sp>
        <p:nvSpPr>
          <p:cNvPr id="3" name="Right Arrow 2"/>
          <p:cNvSpPr/>
          <p:nvPr/>
        </p:nvSpPr>
        <p:spPr>
          <a:xfrm>
            <a:off x="914400" y="1828800"/>
            <a:ext cx="5486400" cy="1097280"/>
          </a:xfrm>
          <a:prstGeom prst="rightArrow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FFFFFF"/>
                </a:solidFill>
              </a:rPr>
              <a:t>Discovery -&gt;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3657600" cy="914400"/>
          </a:xfrm>
          <a:prstGeom prst="roundRect">
            <a:avLst/>
          </a:prstGeom>
          <a:solidFill>
            <a:srgbClr val="8E2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FFFFFF"/>
                </a:solidFill>
              </a:rPr>
              <a:t>PHASE 2: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